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74"/>
  </p:normalViewPr>
  <p:slideViewPr>
    <p:cSldViewPr snapToGrid="0" snapToObjects="1">
      <p:cViewPr varScale="1">
        <p:scale>
          <a:sx n="127" d="100"/>
          <a:sy n="127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7" Type="http://schemas.openxmlformats.org/officeDocument/2006/relationships/slide" Target="slides/slide6.xml"/><Relationship Id="rId25" Type="http://schemas.openxmlformats.org/officeDocument/2006/relationships/customXml" Target="../customXml/item3.xml"/><Relationship Id="rId20" Type="http://schemas.openxmlformats.org/officeDocument/2006/relationships/viewProps" Target="viewProps.xml"/><Relationship Id="rId16" Type="http://schemas.openxmlformats.org/officeDocument/2006/relationships/slide" Target="slides/slide15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customXml" Target="../customXml/item2.xml"/><Relationship Id="rId15" Type="http://schemas.openxmlformats.org/officeDocument/2006/relationships/slide" Target="slides/slide14.xml"/><Relationship Id="rId5" Type="http://schemas.openxmlformats.org/officeDocument/2006/relationships/slide" Target="slides/slide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9" Type="http://schemas.openxmlformats.org/officeDocument/2006/relationships/slide" Target="slides/slide8.xml"/><Relationship Id="rId22" Type="http://schemas.openxmlformats.org/officeDocument/2006/relationships/tableStyles" Target="tableStyles.xml"/><Relationship Id="rId14" Type="http://schemas.openxmlformats.org/officeDocument/2006/relationships/slide" Target="slides/slide13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AF16D-6589-9D40-9BAB-1D358F7B7C71}" type="datetimeFigureOut">
              <a:rPr lang="en-US" smtClean="0"/>
              <a:t>9/8/16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633B9-E5E6-3345-BDFE-462890B45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0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n-US"/>
          </a:p>
        </p:txBody>
      </p:sp>
      <p:sp>
        <p:nvSpPr>
          <p:cNvPr id="330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72256F50-43E8-4448-AF26-C44BD1A73C93}" type="slidenum">
              <a:rPr lang="es-MX" altLang="en-US"/>
              <a:pPr eaLnBrk="1" hangingPunct="1"/>
              <a:t>15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3320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1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8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7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5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6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3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6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65DAF-7B31-A147-B924-45CAE5433D8A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2D82-6AE3-C544-8B5E-C21530527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MX" sz="3600" dirty="0" smtClean="0"/>
              <a:t>El proceso </a:t>
            </a:r>
            <a:r>
              <a:rPr lang="es-MX" sz="3600" dirty="0"/>
              <a:t>software</a:t>
            </a:r>
          </a:p>
        </p:txBody>
      </p:sp>
      <p:sp>
        <p:nvSpPr>
          <p:cNvPr id="49156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9D04B36F-92B1-A147-A807-FECCBC6724BA}" type="slidenum">
              <a:rPr lang="es-ES" altLang="en-US"/>
              <a:pPr eaLnBrk="1" hangingPunct="1"/>
              <a:t>1</a:t>
            </a:fld>
            <a:endParaRPr lang="es-ES" altLang="en-US"/>
          </a:p>
        </p:txBody>
      </p:sp>
      <p:sp>
        <p:nvSpPr>
          <p:cNvPr id="5" name="5 Subtítulo"/>
          <p:cNvSpPr txBox="1">
            <a:spLocks/>
          </p:cNvSpPr>
          <p:nvPr/>
        </p:nvSpPr>
        <p:spPr bwMode="auto">
          <a:xfrm>
            <a:off x="8459335" y="5239273"/>
            <a:ext cx="3887787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571500" indent="-571500" algn="l">
              <a:defRPr/>
            </a:pPr>
            <a:r>
              <a:rPr lang="es-ES" sz="1400" b="1" i="1" dirty="0" smtClean="0">
                <a:solidFill>
                  <a:schemeClr val="tx2">
                    <a:lumMod val="75000"/>
                  </a:schemeClr>
                </a:solidFill>
              </a:rPr>
              <a:t>Elaboró:</a:t>
            </a:r>
            <a:endParaRPr lang="es-ES" sz="1400" b="1" i="1" dirty="0">
              <a:solidFill>
                <a:schemeClr val="tx2">
                  <a:lumMod val="75000"/>
                </a:schemeClr>
              </a:solidFill>
            </a:endParaRPr>
          </a:p>
          <a:p>
            <a:pPr marL="1081088" lvl="3" indent="-541338">
              <a:buFont typeface="Wingdings" pitchFamily="2" charset="2"/>
              <a:buNone/>
              <a:defRPr/>
            </a:pPr>
            <a:r>
              <a:rPr lang="es-ES" sz="1400" b="1" i="1" dirty="0" smtClean="0">
                <a:solidFill>
                  <a:schemeClr val="tx2">
                    <a:lumMod val="75000"/>
                  </a:schemeClr>
                </a:solidFill>
              </a:rPr>
              <a:t>M.T.I. Edwin León Bojórquez</a:t>
            </a:r>
          </a:p>
          <a:p>
            <a:pPr marL="1081088" lvl="3" indent="-541338">
              <a:buFont typeface="Wingdings" pitchFamily="2" charset="2"/>
              <a:buNone/>
              <a:defRPr/>
            </a:pPr>
            <a:r>
              <a:rPr lang="es-MX" sz="1400" b="1" i="1" dirty="0" smtClean="0">
                <a:solidFill>
                  <a:schemeClr val="tx2">
                    <a:lumMod val="75000"/>
                  </a:schemeClr>
                </a:solidFill>
              </a:rPr>
              <a:t>M.C.   Carlos Benito Mojica Ruiz</a:t>
            </a:r>
          </a:p>
          <a:p>
            <a:pPr marL="1081088" lvl="3" indent="-541338">
              <a:buFont typeface="Wingdings" pitchFamily="2" charset="2"/>
              <a:buNone/>
              <a:defRPr/>
            </a:pPr>
            <a:r>
              <a:rPr lang="es-MX" sz="1400" b="1" i="1" dirty="0">
                <a:solidFill>
                  <a:schemeClr val="tx2">
                    <a:lumMod val="75000"/>
                  </a:schemeClr>
                </a:solidFill>
              </a:rPr>
              <a:t>M.C.   </a:t>
            </a:r>
            <a:r>
              <a:rPr lang="es-MX" sz="1400" b="1" i="1" dirty="0" smtClean="0">
                <a:solidFill>
                  <a:schemeClr val="tx2">
                    <a:lumMod val="75000"/>
                  </a:schemeClr>
                </a:solidFill>
              </a:rPr>
              <a:t>Luis Ramiro Basto Díaz</a:t>
            </a:r>
            <a:endParaRPr lang="es-ES" sz="1400" b="1" dirty="0">
              <a:solidFill>
                <a:schemeClr val="tx2">
                  <a:lumMod val="75000"/>
                </a:schemeClr>
              </a:solidFill>
            </a:endParaRPr>
          </a:p>
          <a:p>
            <a:pPr marL="1081088" lvl="3" indent="-541338">
              <a:buFont typeface="Wingdings" pitchFamily="2" charset="2"/>
              <a:buNone/>
              <a:defRPr/>
            </a:pPr>
            <a:endParaRPr lang="es-ES" sz="1400" b="1" dirty="0" err="1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0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 sz="4000"/>
              <a:t>El software como proceso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95551" y="1412876"/>
            <a:ext cx="7129463" cy="4176713"/>
          </a:xfrm>
        </p:spPr>
        <p:txBody>
          <a:bodyPr/>
          <a:lstStyle/>
          <a:p>
            <a:pPr algn="just"/>
            <a:r>
              <a:rPr lang="es-MX" altLang="en-US" sz="2200"/>
              <a:t>Es una serie de pasos predecibles que se tiene que seguir para construir un producto o sistema.</a:t>
            </a:r>
          </a:p>
          <a:p>
            <a:pPr algn="just"/>
            <a:endParaRPr lang="es-MX" altLang="en-US" sz="2200"/>
          </a:p>
          <a:p>
            <a:pPr algn="just"/>
            <a:r>
              <a:rPr lang="es-MX" altLang="en-US" sz="2200"/>
              <a:t>Éste proceso es importante, porque proporciona estabilidad, control y organización a una actividad que puede, sino se controla, volverse caótica.</a:t>
            </a:r>
          </a:p>
        </p:txBody>
      </p:sp>
      <p:sp>
        <p:nvSpPr>
          <p:cNvPr id="50180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FA40AE1F-AF46-B24B-B1FE-DFA752364429}" type="slidenum">
              <a:rPr lang="es-ES" altLang="en-US"/>
              <a:pPr eaLnBrk="1" hangingPunct="1"/>
              <a:t>2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64824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 sz="4000"/>
              <a:t>Estratos de la Ingeniería de SW</a:t>
            </a:r>
          </a:p>
        </p:txBody>
      </p:sp>
      <p:sp>
        <p:nvSpPr>
          <p:cNvPr id="51203" name="Oval 6"/>
          <p:cNvSpPr>
            <a:spLocks noChangeArrowheads="1"/>
          </p:cNvSpPr>
          <p:nvPr/>
        </p:nvSpPr>
        <p:spPr bwMode="auto">
          <a:xfrm>
            <a:off x="3336926" y="3355975"/>
            <a:ext cx="5832475" cy="1512888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51204" name="Oval 7"/>
          <p:cNvSpPr>
            <a:spLocks noChangeArrowheads="1"/>
          </p:cNvSpPr>
          <p:nvPr/>
        </p:nvSpPr>
        <p:spPr bwMode="auto">
          <a:xfrm>
            <a:off x="3768726" y="3211514"/>
            <a:ext cx="4968875" cy="1152525"/>
          </a:xfrm>
          <a:prstGeom prst="ellipse">
            <a:avLst/>
          </a:prstGeom>
          <a:solidFill>
            <a:srgbClr val="CCFFCC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51205" name="Oval 8"/>
          <p:cNvSpPr>
            <a:spLocks noChangeArrowheads="1"/>
          </p:cNvSpPr>
          <p:nvPr/>
        </p:nvSpPr>
        <p:spPr bwMode="auto">
          <a:xfrm>
            <a:off x="4344988" y="2924176"/>
            <a:ext cx="3816350" cy="936625"/>
          </a:xfrm>
          <a:prstGeom prst="ellipse">
            <a:avLst/>
          </a:prstGeom>
          <a:solidFill>
            <a:srgbClr val="FFFF99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51206" name="Oval 9"/>
          <p:cNvSpPr>
            <a:spLocks noChangeArrowheads="1"/>
          </p:cNvSpPr>
          <p:nvPr/>
        </p:nvSpPr>
        <p:spPr bwMode="auto">
          <a:xfrm>
            <a:off x="4776788" y="2779713"/>
            <a:ext cx="2952750" cy="576262"/>
          </a:xfrm>
          <a:prstGeom prst="ellipse">
            <a:avLst/>
          </a:prstGeom>
          <a:solidFill>
            <a:srgbClr val="99CC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endParaRPr lang="es-MX" altLang="en-US"/>
          </a:p>
        </p:txBody>
      </p:sp>
      <p:sp>
        <p:nvSpPr>
          <p:cNvPr id="51207" name="Text Box 10"/>
          <p:cNvSpPr txBox="1">
            <a:spLocks noChangeArrowheads="1"/>
          </p:cNvSpPr>
          <p:nvPr/>
        </p:nvSpPr>
        <p:spPr bwMode="auto">
          <a:xfrm>
            <a:off x="5067301" y="4364038"/>
            <a:ext cx="27719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/>
              <a:t>Un enfoque de calidad</a:t>
            </a:r>
          </a:p>
        </p:txBody>
      </p:sp>
      <p:sp>
        <p:nvSpPr>
          <p:cNvPr id="51208" name="Text Box 11"/>
          <p:cNvSpPr txBox="1">
            <a:spLocks noChangeArrowheads="1"/>
          </p:cNvSpPr>
          <p:nvPr/>
        </p:nvSpPr>
        <p:spPr bwMode="auto">
          <a:xfrm>
            <a:off x="5795964" y="3925888"/>
            <a:ext cx="11993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/>
              <a:t>Procesos</a:t>
            </a:r>
          </a:p>
        </p:txBody>
      </p:sp>
      <p:sp>
        <p:nvSpPr>
          <p:cNvPr id="51209" name="Text Box 12"/>
          <p:cNvSpPr txBox="1">
            <a:spLocks noChangeArrowheads="1"/>
          </p:cNvSpPr>
          <p:nvPr/>
        </p:nvSpPr>
        <p:spPr bwMode="auto">
          <a:xfrm>
            <a:off x="5759451" y="3478213"/>
            <a:ext cx="11512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/>
              <a:t>Métodos</a:t>
            </a:r>
          </a:p>
        </p:txBody>
      </p:sp>
      <p:sp>
        <p:nvSpPr>
          <p:cNvPr id="51210" name="Text Box 13"/>
          <p:cNvSpPr txBox="1">
            <a:spLocks noChangeArrowheads="1"/>
          </p:cNvSpPr>
          <p:nvPr/>
        </p:nvSpPr>
        <p:spPr bwMode="auto">
          <a:xfrm>
            <a:off x="5473700" y="2852738"/>
            <a:ext cx="1746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/>
              <a:t>Herramientas</a:t>
            </a:r>
          </a:p>
        </p:txBody>
      </p:sp>
      <p:sp>
        <p:nvSpPr>
          <p:cNvPr id="51211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2FC15494-9624-DE49-AFD0-DA36CC3C03C9}" type="slidenum">
              <a:rPr lang="es-ES" altLang="en-US"/>
              <a:pPr eaLnBrk="1" hangingPunct="1"/>
              <a:t>3</a:t>
            </a:fld>
            <a:endParaRPr lang="es-ES" altLang="en-US"/>
          </a:p>
        </p:txBody>
      </p:sp>
      <p:sp>
        <p:nvSpPr>
          <p:cNvPr id="51212" name="Rectangle 3"/>
          <p:cNvSpPr txBox="1">
            <a:spLocks noChangeArrowheads="1"/>
          </p:cNvSpPr>
          <p:nvPr/>
        </p:nvSpPr>
        <p:spPr bwMode="auto">
          <a:xfrm>
            <a:off x="2424113" y="1268414"/>
            <a:ext cx="7200900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2"/>
              <a:buChar char="p"/>
            </a:pPr>
            <a:r>
              <a:rPr lang="es-MX" altLang="en-US" sz="2200"/>
              <a:t>La ingeniería de software es una tecnología multicapa.</a:t>
            </a:r>
          </a:p>
        </p:txBody>
      </p:sp>
    </p:spTree>
    <p:extLst>
      <p:ext uri="{BB962C8B-B14F-4D97-AF65-F5344CB8AC3E}">
        <p14:creationId xmlns:p14="http://schemas.microsoft.com/office/powerpoint/2010/main" val="9136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n-US" sz="4000"/>
              <a:t>Herramientas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66988" y="1557338"/>
            <a:ext cx="3097212" cy="36830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s-ES_tradnl" altLang="en-US" sz="2000"/>
              <a:t>Suministran un soporte automático o semiautomático para los métodos.</a:t>
            </a:r>
          </a:p>
          <a:p>
            <a:pPr>
              <a:lnSpc>
                <a:spcPct val="80000"/>
              </a:lnSpc>
            </a:pPr>
            <a:endParaRPr lang="es-ES_tradnl" altLang="en-US" sz="2000"/>
          </a:p>
          <a:p>
            <a:pPr>
              <a:lnSpc>
                <a:spcPct val="80000"/>
              </a:lnSpc>
            </a:pPr>
            <a:r>
              <a:rPr lang="es-ES_tradnl" altLang="en-US" sz="2000"/>
              <a:t>Herramientas CASE, graficadores, compiladores, editores de texto y gráficos, hojas de cálculo, software de presentación, software de administración de código, software de planificación de proyectos, etc.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1" y="1362075"/>
            <a:ext cx="301942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2229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E35036F3-3159-C442-A451-75C9CA3D9DEF}" type="slidenum">
              <a:rPr lang="es-ES" altLang="en-US"/>
              <a:pPr eaLnBrk="1" hangingPunct="1"/>
              <a:t>4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84249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n-US" sz="4000"/>
              <a:t>Métodos</a:t>
            </a:r>
          </a:p>
        </p:txBody>
      </p:sp>
      <p:sp>
        <p:nvSpPr>
          <p:cNvPr id="5325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79638" y="1944689"/>
            <a:ext cx="3987800" cy="4148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_tradnl" altLang="en-US" sz="2000"/>
              <a:t>Indica el “cómo” construir técnicamente el software.</a:t>
            </a:r>
          </a:p>
          <a:p>
            <a:pPr>
              <a:lnSpc>
                <a:spcPct val="80000"/>
              </a:lnSpc>
            </a:pPr>
            <a:endParaRPr lang="es-ES_tradnl" altLang="en-US" sz="2000"/>
          </a:p>
          <a:p>
            <a:pPr>
              <a:lnSpc>
                <a:spcPct val="80000"/>
              </a:lnSpc>
            </a:pPr>
            <a:r>
              <a:rPr lang="es-ES_tradnl" altLang="en-US" sz="2000"/>
              <a:t>Incluyen planificación, estimación de proyectos, análisis de requisitos del sistema y software, diseño de estructuras de datos, arquitectura de programas, procedimientos algorítmicos, codificación, prueba y mantenimiento.</a:t>
            </a:r>
            <a:endParaRPr lang="es-ES" altLang="en-US" sz="2000"/>
          </a:p>
        </p:txBody>
      </p:sp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916113"/>
            <a:ext cx="3600450" cy="30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3253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6B85D363-3045-5F41-9309-92F5B82AC3DA}" type="slidenum">
              <a:rPr lang="es-ES" altLang="en-US"/>
              <a:pPr eaLnBrk="1" hangingPunct="1"/>
              <a:t>5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42248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n-US" sz="4000"/>
              <a:t>Procesos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3" y="1658939"/>
            <a:ext cx="3600450" cy="40735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_tradnl" altLang="en-US" sz="2000"/>
              <a:t>Unen los métodos y herramientas para facilitar un desarrollo racional y oportuno del software.</a:t>
            </a:r>
          </a:p>
          <a:p>
            <a:pPr>
              <a:lnSpc>
                <a:spcPct val="80000"/>
              </a:lnSpc>
            </a:pPr>
            <a:endParaRPr lang="es-ES_tradnl" altLang="en-US" sz="2000"/>
          </a:p>
          <a:p>
            <a:pPr>
              <a:lnSpc>
                <a:spcPct val="80000"/>
              </a:lnSpc>
            </a:pPr>
            <a:r>
              <a:rPr lang="es-ES_tradnl" altLang="en-US" sz="2000"/>
              <a:t>Secuencias de aplicación de métodos, entregas (informes, formas, documentos, etc.) que se requieren, controles de calidad, coordinación de cambios y directrices de evaluación.</a:t>
            </a: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9" y="1773238"/>
            <a:ext cx="3887787" cy="359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4277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7745A021-88DF-6B49-B977-7266E21B665F}" type="slidenum">
              <a:rPr lang="es-ES" altLang="en-US"/>
              <a:pPr eaLnBrk="1" hangingPunct="1"/>
              <a:t>6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911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 sz="4000"/>
              <a:t>Calidad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189" y="1125539"/>
            <a:ext cx="7705725" cy="7905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s-ES" altLang="en-US" sz="1800"/>
              <a:t>La gestión de la calidad fomenta la cultura de mejora continua del proceso, y es esta cultura la que al final conduce al desarrollo de enfoques muy efectivos para la ingeniería de software.</a:t>
            </a:r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2343150"/>
            <a:ext cx="7343775" cy="432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5301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14504A41-7DC7-E449-AB9D-FEC36CA658C3}" type="slidenum">
              <a:rPr lang="es-ES" altLang="en-US"/>
              <a:pPr eaLnBrk="1" hangingPunct="1"/>
              <a:t>7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165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/>
              <a:t>Proceso de SW</a:t>
            </a:r>
          </a:p>
        </p:txBody>
      </p:sp>
      <p:pic>
        <p:nvPicPr>
          <p:cNvPr id="563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159000"/>
            <a:ext cx="7561263" cy="426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6324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9E7BE290-71D6-A244-A23B-DCEBAFCF27FE}" type="slidenum">
              <a:rPr lang="es-ES" altLang="en-US"/>
              <a:pPr eaLnBrk="1" hangingPunct="1"/>
              <a:t>8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076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 sz="4000"/>
              <a:t>Proceso del SW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3" y="1268414"/>
            <a:ext cx="7632700" cy="76358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s-ES" altLang="en-US" sz="2000"/>
              <a:t>Es un conjunto de actividades cuya meta es el desarrollo o evolución del software. Estas actividades son llevadas a cabo por ingenieros de software.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2711450" y="2708276"/>
            <a:ext cx="2160588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COMUNICACIÓN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5446714" y="4005263"/>
            <a:ext cx="1728787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MODELADO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295775" y="3429000"/>
            <a:ext cx="1728788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PLANEACIÓN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6311900" y="4581525"/>
            <a:ext cx="2160588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CONSTRUCCIÓN</a:t>
            </a:r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7967664" y="5253038"/>
            <a:ext cx="1728787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DESPLIEGUE</a:t>
            </a:r>
          </a:p>
        </p:txBody>
      </p:sp>
      <p:sp>
        <p:nvSpPr>
          <p:cNvPr id="57353" name="Arc 9"/>
          <p:cNvSpPr>
            <a:spLocks/>
          </p:cNvSpPr>
          <p:nvPr/>
        </p:nvSpPr>
        <p:spPr bwMode="auto">
          <a:xfrm>
            <a:off x="4943476" y="2852738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Arc 10"/>
          <p:cNvSpPr>
            <a:spLocks/>
          </p:cNvSpPr>
          <p:nvPr/>
        </p:nvSpPr>
        <p:spPr bwMode="auto">
          <a:xfrm>
            <a:off x="6096001" y="3429000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Arc 11"/>
          <p:cNvSpPr>
            <a:spLocks/>
          </p:cNvSpPr>
          <p:nvPr/>
        </p:nvSpPr>
        <p:spPr bwMode="auto">
          <a:xfrm>
            <a:off x="7246939" y="4005263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6" name="Arc 12"/>
          <p:cNvSpPr>
            <a:spLocks/>
          </p:cNvSpPr>
          <p:nvPr/>
        </p:nvSpPr>
        <p:spPr bwMode="auto">
          <a:xfrm>
            <a:off x="8542339" y="4581525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0E543D29-8AAD-7D41-93F0-23380597553F}" type="slidenum">
              <a:rPr lang="es-ES" altLang="en-US"/>
              <a:pPr eaLnBrk="1" hangingPunct="1"/>
              <a:t>9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44089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277813"/>
            <a:ext cx="8435975" cy="703262"/>
          </a:xfrm>
        </p:spPr>
        <p:txBody>
          <a:bodyPr>
            <a:normAutofit fontScale="90000"/>
          </a:bodyPr>
          <a:lstStyle/>
          <a:p>
            <a:r>
              <a:rPr lang="es-ES" altLang="en-US" sz="3200"/>
              <a:t>Actividades del proceso general de desarrollo de SW</a:t>
            </a:r>
          </a:p>
        </p:txBody>
      </p:sp>
      <p:sp>
        <p:nvSpPr>
          <p:cNvPr id="58371" name="Text Box 9"/>
          <p:cNvSpPr txBox="1">
            <a:spLocks noChangeArrowheads="1"/>
          </p:cNvSpPr>
          <p:nvPr/>
        </p:nvSpPr>
        <p:spPr bwMode="auto">
          <a:xfrm>
            <a:off x="1833563" y="3651250"/>
            <a:ext cx="2233612" cy="338138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COMUNICACIÓN</a:t>
            </a:r>
          </a:p>
        </p:txBody>
      </p:sp>
      <p:sp>
        <p:nvSpPr>
          <p:cNvPr id="58372" name="Text Box 10"/>
          <p:cNvSpPr txBox="1">
            <a:spLocks noChangeArrowheads="1"/>
          </p:cNvSpPr>
          <p:nvPr/>
        </p:nvSpPr>
        <p:spPr bwMode="auto">
          <a:xfrm>
            <a:off x="4570414" y="4941888"/>
            <a:ext cx="1728787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MODELADO</a:t>
            </a:r>
          </a:p>
        </p:txBody>
      </p:sp>
      <p:sp>
        <p:nvSpPr>
          <p:cNvPr id="58373" name="Text Box 11"/>
          <p:cNvSpPr txBox="1">
            <a:spLocks noChangeArrowheads="1"/>
          </p:cNvSpPr>
          <p:nvPr/>
        </p:nvSpPr>
        <p:spPr bwMode="auto">
          <a:xfrm>
            <a:off x="3419475" y="4365625"/>
            <a:ext cx="1728788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PLANEACIÓN</a:t>
            </a:r>
          </a:p>
        </p:txBody>
      </p:sp>
      <p:sp>
        <p:nvSpPr>
          <p:cNvPr id="58374" name="Text Box 12"/>
          <p:cNvSpPr txBox="1">
            <a:spLocks noChangeArrowheads="1"/>
          </p:cNvSpPr>
          <p:nvPr/>
        </p:nvSpPr>
        <p:spPr bwMode="auto">
          <a:xfrm>
            <a:off x="5424489" y="5502276"/>
            <a:ext cx="2173287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CONSTRUCCIÓN</a:t>
            </a:r>
          </a:p>
        </p:txBody>
      </p:sp>
      <p:sp>
        <p:nvSpPr>
          <p:cNvPr id="58375" name="Text Box 13"/>
          <p:cNvSpPr txBox="1">
            <a:spLocks noChangeArrowheads="1"/>
          </p:cNvSpPr>
          <p:nvPr/>
        </p:nvSpPr>
        <p:spPr bwMode="auto">
          <a:xfrm>
            <a:off x="6923089" y="6173788"/>
            <a:ext cx="1728787" cy="33655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63500" dist="107763" dir="135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n-US" sz="1600" b="1"/>
              <a:t>DESPLIEGUE</a:t>
            </a:r>
          </a:p>
        </p:txBody>
      </p:sp>
      <p:sp>
        <p:nvSpPr>
          <p:cNvPr id="58376" name="Arc 15"/>
          <p:cNvSpPr>
            <a:spLocks/>
          </p:cNvSpPr>
          <p:nvPr/>
        </p:nvSpPr>
        <p:spPr bwMode="auto">
          <a:xfrm>
            <a:off x="4067176" y="3789363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Arc 16"/>
          <p:cNvSpPr>
            <a:spLocks/>
          </p:cNvSpPr>
          <p:nvPr/>
        </p:nvSpPr>
        <p:spPr bwMode="auto">
          <a:xfrm>
            <a:off x="5219701" y="4365625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Arc 17"/>
          <p:cNvSpPr>
            <a:spLocks/>
          </p:cNvSpPr>
          <p:nvPr/>
        </p:nvSpPr>
        <p:spPr bwMode="auto">
          <a:xfrm>
            <a:off x="6370639" y="4941888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Arc 18"/>
          <p:cNvSpPr>
            <a:spLocks/>
          </p:cNvSpPr>
          <p:nvPr/>
        </p:nvSpPr>
        <p:spPr bwMode="auto">
          <a:xfrm>
            <a:off x="7751764" y="5672138"/>
            <a:ext cx="504825" cy="431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Text Box 23"/>
          <p:cNvSpPr txBox="1">
            <a:spLocks noChangeArrowheads="1"/>
          </p:cNvSpPr>
          <p:nvPr/>
        </p:nvSpPr>
        <p:spPr bwMode="auto">
          <a:xfrm rot="-1986118">
            <a:off x="5149121" y="2629178"/>
            <a:ext cx="4248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Seguimiento y control del proyecto</a:t>
            </a:r>
          </a:p>
        </p:txBody>
      </p:sp>
      <p:sp>
        <p:nvSpPr>
          <p:cNvPr id="58381" name="Text Box 24"/>
          <p:cNvSpPr txBox="1">
            <a:spLocks noChangeArrowheads="1"/>
          </p:cNvSpPr>
          <p:nvPr/>
        </p:nvSpPr>
        <p:spPr bwMode="auto">
          <a:xfrm rot="-2189084">
            <a:off x="7893518" y="4213503"/>
            <a:ext cx="2332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Gestión de riesgos</a:t>
            </a:r>
          </a:p>
        </p:txBody>
      </p:sp>
      <p:sp>
        <p:nvSpPr>
          <p:cNvPr id="58382" name="Text Box 25"/>
          <p:cNvSpPr txBox="1">
            <a:spLocks noChangeArrowheads="1"/>
          </p:cNvSpPr>
          <p:nvPr/>
        </p:nvSpPr>
        <p:spPr bwMode="auto">
          <a:xfrm rot="-2106387">
            <a:off x="6958108" y="3492778"/>
            <a:ext cx="34669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Aseguramiento de la calidad</a:t>
            </a:r>
          </a:p>
        </p:txBody>
      </p:sp>
      <p:sp>
        <p:nvSpPr>
          <p:cNvPr id="58383" name="Text Box 26"/>
          <p:cNvSpPr txBox="1">
            <a:spLocks noChangeArrowheads="1"/>
          </p:cNvSpPr>
          <p:nvPr/>
        </p:nvSpPr>
        <p:spPr bwMode="auto">
          <a:xfrm rot="-1917285">
            <a:off x="4252005" y="2491066"/>
            <a:ext cx="3510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Revisiones técnicas formales</a:t>
            </a:r>
          </a:p>
        </p:txBody>
      </p:sp>
      <p:sp>
        <p:nvSpPr>
          <p:cNvPr id="58384" name="Text Box 27"/>
          <p:cNvSpPr txBox="1">
            <a:spLocks noChangeArrowheads="1"/>
          </p:cNvSpPr>
          <p:nvPr/>
        </p:nvSpPr>
        <p:spPr bwMode="auto">
          <a:xfrm rot="-2174011">
            <a:off x="8696740" y="5077103"/>
            <a:ext cx="11945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Medición</a:t>
            </a:r>
          </a:p>
        </p:txBody>
      </p:sp>
      <p:sp>
        <p:nvSpPr>
          <p:cNvPr id="58385" name="Text Box 28"/>
          <p:cNvSpPr txBox="1">
            <a:spLocks noChangeArrowheads="1"/>
          </p:cNvSpPr>
          <p:nvPr/>
        </p:nvSpPr>
        <p:spPr bwMode="auto">
          <a:xfrm rot="-1828191">
            <a:off x="2031938" y="2413278"/>
            <a:ext cx="33354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Gestión de la configuración</a:t>
            </a:r>
          </a:p>
        </p:txBody>
      </p:sp>
      <p:sp>
        <p:nvSpPr>
          <p:cNvPr id="58386" name="Text Box 29"/>
          <p:cNvSpPr txBox="1">
            <a:spLocks noChangeArrowheads="1"/>
          </p:cNvSpPr>
          <p:nvPr/>
        </p:nvSpPr>
        <p:spPr bwMode="auto">
          <a:xfrm rot="-1893464">
            <a:off x="3293575" y="2419628"/>
            <a:ext cx="31870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Gestión de la reutilización</a:t>
            </a:r>
          </a:p>
        </p:txBody>
      </p:sp>
      <p:sp>
        <p:nvSpPr>
          <p:cNvPr id="58387" name="Text Box 30"/>
          <p:cNvSpPr txBox="1">
            <a:spLocks noChangeArrowheads="1"/>
          </p:cNvSpPr>
          <p:nvPr/>
        </p:nvSpPr>
        <p:spPr bwMode="auto">
          <a:xfrm rot="-2094702">
            <a:off x="6036181" y="2845078"/>
            <a:ext cx="44392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ES" altLang="en-US">
                <a:solidFill>
                  <a:srgbClr val="008E69"/>
                </a:solidFill>
              </a:rPr>
              <a:t>Preparación y producción del trabajo</a:t>
            </a:r>
          </a:p>
        </p:txBody>
      </p:sp>
      <p:sp>
        <p:nvSpPr>
          <p:cNvPr id="58388" name="Arc 32"/>
          <p:cNvSpPr>
            <a:spLocks/>
          </p:cNvSpPr>
          <p:nvPr/>
        </p:nvSpPr>
        <p:spPr bwMode="auto">
          <a:xfrm>
            <a:off x="1774825" y="3384550"/>
            <a:ext cx="7416800" cy="3429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1C5F8435-3688-F04B-8E90-55AF8D7CA4CE}" type="slidenum">
              <a:rPr lang="es-ES" altLang="en-US"/>
              <a:pPr eaLnBrk="1" hangingPunct="1"/>
              <a:t>10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1200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MX" sz="3600" dirty="0" smtClean="0"/>
              <a:t>Dimensiones de </a:t>
            </a:r>
            <a:r>
              <a:rPr lang="es-MX" sz="3600" dirty="0"/>
              <a:t>un proyecto software</a:t>
            </a:r>
          </a:p>
        </p:txBody>
      </p:sp>
      <p:sp>
        <p:nvSpPr>
          <p:cNvPr id="5939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altLang="en-US"/>
          </a:p>
        </p:txBody>
      </p:sp>
      <p:sp>
        <p:nvSpPr>
          <p:cNvPr id="59396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F2D43D82-E561-1845-A6B6-F899B74F12F5}" type="slidenum">
              <a:rPr lang="es-ES" altLang="en-US"/>
              <a:pPr eaLnBrk="1" hangingPunct="1"/>
              <a:t>11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3132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11" descr="Karl1Sept28th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6" y="1412876"/>
            <a:ext cx="4899025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Oval 33"/>
          <p:cNvSpPr/>
          <p:nvPr/>
        </p:nvSpPr>
        <p:spPr>
          <a:xfrm>
            <a:off x="2927350" y="1268414"/>
            <a:ext cx="6165850" cy="5184775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60420" name="Title 1"/>
          <p:cNvSpPr>
            <a:spLocks noGrp="1"/>
          </p:cNvSpPr>
          <p:nvPr>
            <p:ph type="title"/>
          </p:nvPr>
        </p:nvSpPr>
        <p:spPr>
          <a:xfrm>
            <a:off x="1919289" y="277813"/>
            <a:ext cx="8497887" cy="703262"/>
          </a:xfrm>
        </p:spPr>
        <p:txBody>
          <a:bodyPr>
            <a:normAutofit fontScale="90000"/>
          </a:bodyPr>
          <a:lstStyle/>
          <a:p>
            <a:r>
              <a:rPr lang="es-MX" altLang="en-US"/>
              <a:t>Las 5 dimensiones de un proyecto software</a:t>
            </a:r>
          </a:p>
        </p:txBody>
      </p:sp>
      <p:sp>
        <p:nvSpPr>
          <p:cNvPr id="60421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AB078F33-33D6-8D4E-8C44-A5BAD31A71D2}" type="slidenum">
              <a:rPr lang="es-ES" altLang="en-US"/>
              <a:pPr eaLnBrk="1" hangingPunct="1"/>
              <a:t>12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27103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Título"/>
          <p:cNvSpPr>
            <a:spLocks noGrp="1"/>
          </p:cNvSpPr>
          <p:nvPr>
            <p:ph type="title"/>
          </p:nvPr>
        </p:nvSpPr>
        <p:spPr>
          <a:xfrm>
            <a:off x="1919288" y="260351"/>
            <a:ext cx="8208962" cy="703263"/>
          </a:xfrm>
        </p:spPr>
        <p:txBody>
          <a:bodyPr>
            <a:normAutofit fontScale="90000"/>
          </a:bodyPr>
          <a:lstStyle/>
          <a:p>
            <a:r>
              <a:rPr lang="es-MX" altLang="en-US"/>
              <a:t>Las 5 dimensiones de un proyecto software</a:t>
            </a:r>
          </a:p>
        </p:txBody>
      </p:sp>
      <p:sp>
        <p:nvSpPr>
          <p:cNvPr id="61443" name="2 Marcador de contenido"/>
          <p:cNvSpPr>
            <a:spLocks noGrp="1"/>
          </p:cNvSpPr>
          <p:nvPr>
            <p:ph idx="1"/>
          </p:nvPr>
        </p:nvSpPr>
        <p:spPr>
          <a:xfrm>
            <a:off x="2557464" y="1341439"/>
            <a:ext cx="6923087" cy="4789487"/>
          </a:xfrm>
        </p:spPr>
        <p:txBody>
          <a:bodyPr/>
          <a:lstStyle/>
          <a:p>
            <a:pPr algn="just"/>
            <a:r>
              <a:rPr lang="es-MX" altLang="en-US" sz="2200"/>
              <a:t>Cada una de estas cinco dimensiones, puede tomar uno de tres roles dentro de un proyecto dado:</a:t>
            </a:r>
          </a:p>
          <a:p>
            <a:pPr lvl="1" algn="just"/>
            <a:endParaRPr lang="es-MX" altLang="en-US" sz="2000"/>
          </a:p>
          <a:p>
            <a:pPr lvl="1" algn="just"/>
            <a:r>
              <a:rPr lang="es-MX" altLang="en-US" sz="2000"/>
              <a:t>Driver.- Un objetivo clave del proyecto.</a:t>
            </a:r>
          </a:p>
          <a:p>
            <a:pPr lvl="1" algn="just"/>
            <a:endParaRPr lang="es-MX" altLang="en-US" sz="2000"/>
          </a:p>
          <a:p>
            <a:pPr lvl="1" algn="just"/>
            <a:r>
              <a:rPr lang="es-MX" altLang="en-US" sz="2000"/>
              <a:t>Constraint.- Un factor limitante que no está bajo control de los líderes del proyecto.</a:t>
            </a:r>
          </a:p>
          <a:p>
            <a:pPr lvl="1" algn="just"/>
            <a:endParaRPr lang="es-MX" altLang="en-US" sz="2000"/>
          </a:p>
          <a:p>
            <a:pPr lvl="1" algn="just"/>
            <a:r>
              <a:rPr lang="es-MX" altLang="en-US" sz="2000"/>
              <a:t>Degree of freedom.- Cualquier dimensión del proyecto que no es driver ni constraint.</a:t>
            </a:r>
          </a:p>
        </p:txBody>
      </p:sp>
      <p:sp>
        <p:nvSpPr>
          <p:cNvPr id="61444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9D39BFEE-D0C7-EC41-9FA4-E4563AC3F0AB}" type="slidenum">
              <a:rPr lang="es-ES" altLang="en-US"/>
              <a:pPr eaLnBrk="1" hangingPunct="1"/>
              <a:t>13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25715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/>
              <a:t>Las 5 dimensiones de un proyecto software</a:t>
            </a:r>
          </a:p>
        </p:txBody>
      </p:sp>
      <p:pic>
        <p:nvPicPr>
          <p:cNvPr id="62467" name="Picture 5" descr="Oct2 KW 1st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1700214"/>
            <a:ext cx="5368925" cy="400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1 CuadroTexto"/>
          <p:cNvSpPr txBox="1">
            <a:spLocks noChangeArrowheads="1"/>
          </p:cNvSpPr>
          <p:nvPr/>
        </p:nvSpPr>
        <p:spPr bwMode="auto">
          <a:xfrm>
            <a:off x="3935414" y="5905500"/>
            <a:ext cx="5440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r>
              <a:rPr lang="es-MX" altLang="en-US" b="1" i="1">
                <a:latin typeface="Aparajita" charset="0"/>
                <a:ea typeface="Aparajita" charset="0"/>
                <a:cs typeface="Aparajita" charset="0"/>
              </a:rPr>
              <a:t>Flexibility diagram for a corporate information system</a:t>
            </a:r>
          </a:p>
        </p:txBody>
      </p:sp>
      <p:sp>
        <p:nvSpPr>
          <p:cNvPr id="62469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5AC2EE75-1EE1-7C48-B528-6D77FC3525C1}" type="slidenum">
              <a:rPr lang="es-ES" altLang="en-US"/>
              <a:pPr eaLnBrk="1" hangingPunct="1"/>
              <a:t>14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07768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/>
              <a:t>Las 5 dimensiones de un proyecto software</a:t>
            </a:r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404938"/>
            <a:ext cx="673735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3492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9CAD3CB0-88FD-1E48-98C7-4397B9416B95}" type="slidenum">
              <a:rPr lang="es-ES" altLang="en-US"/>
              <a:pPr eaLnBrk="1" hangingPunct="1"/>
              <a:t>15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9844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/>
              <a:t>Las 5 dimensiones de un proyecto software</a:t>
            </a:r>
          </a:p>
        </p:txBody>
      </p:sp>
      <p:pic>
        <p:nvPicPr>
          <p:cNvPr id="645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196975"/>
            <a:ext cx="608965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4516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/>
            <a:fld id="{51DC0C36-6DD6-A343-81E5-33552449E38C}" type="slidenum">
              <a:rPr lang="es-ES" altLang="en-US"/>
              <a:pPr eaLnBrk="1" hangingPunct="1"/>
              <a:t>16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0173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989ECCC8B7AB4EA23CFB69585B4A70" ma:contentTypeVersion="3" ma:contentTypeDescription="Create a new document." ma:contentTypeScope="" ma:versionID="916e6eb0d82bab40262ee748395e3d30">
  <xsd:schema xmlns:xsd="http://www.w3.org/2001/XMLSchema" xmlns:xs="http://www.w3.org/2001/XMLSchema" xmlns:p="http://schemas.microsoft.com/office/2006/metadata/properties" xmlns:ns2="188a5053-cf46-4829-a43d-8f4e43557bfc" targetNamespace="http://schemas.microsoft.com/office/2006/metadata/properties" ma:root="true" ma:fieldsID="e968e44d62efd30be41830a10ee7cbce" ns2:_="">
    <xsd:import namespace="188a5053-cf46-4829-a43d-8f4e43557b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8a5053-cf46-4829-a43d-8f4e4355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5E8AAC-1366-413F-BA4A-DF0CB4FC0C0B}"/>
</file>

<file path=customXml/itemProps2.xml><?xml version="1.0" encoding="utf-8"?>
<ds:datastoreItem xmlns:ds="http://schemas.openxmlformats.org/officeDocument/2006/customXml" ds:itemID="{2F25D250-6CD2-4716-88A1-E39F26D4A1EC}"/>
</file>

<file path=customXml/itemProps3.xml><?xml version="1.0" encoding="utf-8"?>
<ds:datastoreItem xmlns:ds="http://schemas.openxmlformats.org/officeDocument/2006/customXml" ds:itemID="{25A93427-3B9B-4FE0-843B-F3B24E787BDF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467</Words>
  <Application>Microsoft Macintosh PowerPoint</Application>
  <PresentationFormat>Widescreen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 Light</vt:lpstr>
      <vt:lpstr>Aparajita</vt:lpstr>
      <vt:lpstr>Arial</vt:lpstr>
      <vt:lpstr>Calibri</vt:lpstr>
      <vt:lpstr>Verdana</vt:lpstr>
      <vt:lpstr>Wingdings</vt:lpstr>
      <vt:lpstr>Office Theme</vt:lpstr>
      <vt:lpstr>El proceso software</vt:lpstr>
      <vt:lpstr>El software como proceso</vt:lpstr>
      <vt:lpstr>Estratos de la Ingeniería de SW</vt:lpstr>
      <vt:lpstr>Herramientas</vt:lpstr>
      <vt:lpstr>Métodos</vt:lpstr>
      <vt:lpstr>Procesos</vt:lpstr>
      <vt:lpstr>Calidad</vt:lpstr>
      <vt:lpstr>Proceso de SW</vt:lpstr>
      <vt:lpstr>Proceso del SW</vt:lpstr>
      <vt:lpstr>Actividades del proceso general de desarrollo de SW</vt:lpstr>
      <vt:lpstr>Dimensiones de un proyecto software</vt:lpstr>
      <vt:lpstr>Las 5 dimensiones de un proyecto software</vt:lpstr>
      <vt:lpstr>Las 5 dimensiones de un proyecto software</vt:lpstr>
      <vt:lpstr>Las 5 dimensiones de un proyecto software</vt:lpstr>
      <vt:lpstr>Las 5 dimensiones de un proyecto software</vt:lpstr>
      <vt:lpstr>Las 5 dimensiones de un proyecto software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proceso software</dc:title>
  <dc:creator>Edgar Cambranes Martínez </dc:creator>
  <cp:lastModifiedBy>Edgar Cambranes Martínez </cp:lastModifiedBy>
  <cp:revision>1</cp:revision>
  <dcterms:created xsi:type="dcterms:W3CDTF">2016-09-08T20:09:13Z</dcterms:created>
  <dcterms:modified xsi:type="dcterms:W3CDTF">2016-09-08T20:11:27Z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0x010100CC989ECCC8B7AB4EA23CFB69585B4A70</vt:lpwstr>
  </property>
</Properties>
</file>